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2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01200" y="-914400"/>
            <a:ext cx="4572000" cy="4572000"/>
          </a:xfrm>
          <a:prstGeom prst="ellipse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371600" y="4114800"/>
            <a:ext cx="3657600" cy="3657600"/>
          </a:xfrm>
          <a:prstGeom prst="ellipse">
            <a:avLst/>
          </a:prstGeom>
          <a:solidFill>
            <a:srgbClr val="0055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6459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FFFFFF"/>
                </a:solidFill>
              </a:rPr>
              <a:t>SafeBank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6974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AACCFF"/>
                </a:solidFill>
              </a:rPr>
              <a:t>Mobile Banking Application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0" y="3383280"/>
            <a:ext cx="3959352" cy="4572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3566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CCDDFF"/>
                </a:solidFill>
              </a:rPr>
              <a:t>Secure  •  Simple  •  Smart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502920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88AADD"/>
                </a:solidFill>
              </a:rPr>
              <a:t>Android Application  |  SQLite Database  |  OTP Authentication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A2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</a:rPr>
              <a:t>Project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6751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CCFF"/>
                </a:solidFill>
              </a:rPr>
              <a:t>What is SafeBank?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A2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65392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CCFF"/>
                </a:solidFill>
              </a:rPr>
              <a:t>SafeBank – Mobile Banking Application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565392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ACCFF"/>
                </a:solidFill>
              </a:rPr>
              <a:t>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28016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</a:rPr>
              <a:t>SafeBank is a fully functional Android mobile banking application that simulates core banking operations on a user's smartphone. It provides a clean, modern interface for managing accounts, loans, bills, and fixed deposits, all secured via OTP-based authentication.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423160"/>
            <a:ext cx="34747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90B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514600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7ACC"/>
                </a:solidFill>
              </a:rPr>
              <a:t>🔐  OTP Login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898648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55"/>
                </a:solidFill>
              </a:rPr>
              <a:t>Secure SMS-based
authentication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096512" y="2423160"/>
            <a:ext cx="34747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90B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33672" y="2514600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7ACC"/>
                </a:solidFill>
              </a:rPr>
              <a:t>🏠  Dashboard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33672" y="2898648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55"/>
                </a:solidFill>
              </a:rPr>
              <a:t>Balance &amp; recent
transactions at a glance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35824" y="2423160"/>
            <a:ext cx="34747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90B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72984" y="2514600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7ACC"/>
                </a:solidFill>
              </a:rPr>
              <a:t>💳  Cards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72984" y="2898648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55"/>
                </a:solidFill>
              </a:rPr>
              <a:t>View &amp; manage
your debit card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005072"/>
            <a:ext cx="34747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90B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4096511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7ACC"/>
                </a:solidFill>
              </a:rPr>
              <a:t>🏦  Loans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448056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55"/>
                </a:solidFill>
              </a:rPr>
              <a:t>Home, Personal &amp;
Car loan applications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096512" y="4005072"/>
            <a:ext cx="34747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90B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33672" y="4096511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7ACC"/>
                </a:solidFill>
              </a:rPr>
              <a:t>📋  Fixed Deposits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33672" y="448056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55"/>
                </a:solidFill>
              </a:rPr>
              <a:t>Create &amp; track
FD investments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35824" y="4005072"/>
            <a:ext cx="34747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90B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872984" y="4096511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7ACC"/>
                </a:solidFill>
              </a:rPr>
              <a:t>⚡  Bill Payments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72984" y="448056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55"/>
                </a:solidFill>
              </a:rPr>
              <a:t>Pay Electricity,
Cable &amp; Mobile bills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A2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</a:rPr>
              <a:t>Technology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6751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CCFF"/>
                </a:solidFill>
              </a:rPr>
              <a:t>Tools &amp; technologies used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A2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65392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CCFF"/>
                </a:solidFill>
              </a:rPr>
              <a:t>SafeBank – Mobile Banking Application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565392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ACCFF"/>
                </a:solidFill>
              </a:rPr>
              <a:t>Confidential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325880"/>
            <a:ext cx="1127455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90B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399032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2E5A"/>
                </a:solidFill>
              </a:rPr>
              <a:t>Java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39" y="1399032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Primary programming language for all app logic and activities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011680"/>
            <a:ext cx="1127455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90B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084832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2E5A"/>
                </a:solidFill>
              </a:rPr>
              <a:t>Android SDK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39" y="2084832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Native Android development using AndroidX and Material Design components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697480"/>
            <a:ext cx="1127455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90B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2770632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2E5A"/>
                </a:solidFill>
              </a:rPr>
              <a:t>SQLite (via DBHelper)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49039" y="2770632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Local on-device relational database for accounts, transactions, and FDs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383280"/>
            <a:ext cx="1127455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90B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456432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2E5A"/>
                </a:solidFill>
              </a:rPr>
              <a:t>XML Layouts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49039" y="3456432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Declarative UI design using ConstraintLayout, LinearLayout, RecyclerView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069080"/>
            <a:ext cx="1127455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90B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142232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2E5A"/>
                </a:solidFill>
              </a:rPr>
              <a:t>SMS Manager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49039" y="4142232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Android TelephonyManager API used to send OTP and transaction alerts via SMS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754880"/>
            <a:ext cx="1127455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90B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4828032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2E5A"/>
                </a:solidFill>
              </a:rPr>
              <a:t>SharedPreferences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49039" y="4828032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Lightweight key-value store for persisting the active user session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5440680"/>
            <a:ext cx="1127455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90B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5513832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2E5A"/>
                </a:solidFill>
              </a:rPr>
              <a:t>Material Design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49039" y="5513832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Google Material Components library for cards, text fields, and dialogs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A2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</a:rPr>
              <a:t>Feature 1 – Login &amp; OTP Authentication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6751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CCFF"/>
                </a:solidFill>
              </a:rPr>
              <a:t>Secure entry point to the app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A2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65392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CCFF"/>
                </a:solidFill>
              </a:rPr>
              <a:t>SafeBank – Mobile Banking Application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565392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ACCFF"/>
                </a:solidFill>
              </a:rPr>
              <a:t>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28016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A2E5A"/>
                </a:solidFill>
              </a:rPr>
              <a:t>How it works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737360"/>
            <a:ext cx="7040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50">
                <a:solidFill>
                  <a:srgbClr val="1A1A2E"/>
                </a:solidFill>
              </a:rPr>
              <a:t>  •  1. User enters their Name and 10-digit Phone Number</a:t>
            </a:r>
          </a:p>
          <a:p>
            <a:pPr algn="l">
              <a:spcAft>
                <a:spcPts val="300"/>
              </a:spcAft>
            </a:pPr>
            <a:r>
              <a:rPr sz="1250">
                <a:solidFill>
                  <a:srgbClr val="1A1A2E"/>
                </a:solidFill>
              </a:rPr>
              <a:t>  •  2. App requests SEND_SMS permission from the user</a:t>
            </a:r>
          </a:p>
          <a:p>
            <a:pPr algn="l">
              <a:spcAft>
                <a:spcPts val="300"/>
              </a:spcAft>
            </a:pPr>
            <a:r>
              <a:rPr sz="1250">
                <a:solidFill>
                  <a:srgbClr val="1A1A2E"/>
                </a:solidFill>
              </a:rPr>
              <a:t>  •  3. A 6-digit OTP is generated randomly and sent via SMS</a:t>
            </a:r>
          </a:p>
          <a:p>
            <a:pPr algn="l">
              <a:spcAft>
                <a:spcPts val="300"/>
              </a:spcAft>
            </a:pPr>
            <a:r>
              <a:rPr sz="1250">
                <a:solidFill>
                  <a:srgbClr val="1A1A2E"/>
                </a:solidFill>
              </a:rPr>
              <a:t>  •  4. User enters the received OTP to verify identity</a:t>
            </a:r>
          </a:p>
          <a:p>
            <a:pPr algn="l">
              <a:spcAft>
                <a:spcPts val="300"/>
              </a:spcAft>
            </a:pPr>
            <a:r>
              <a:rPr sz="1250">
                <a:solidFill>
                  <a:srgbClr val="1A1A2E"/>
                </a:solidFill>
              </a:rPr>
              <a:t>  •  5. On first login, a new account is created automatically</a:t>
            </a:r>
          </a:p>
          <a:p>
            <a:pPr algn="l">
              <a:spcAft>
                <a:spcPts val="300"/>
              </a:spcAft>
            </a:pPr>
            <a:r>
              <a:rPr sz="1250">
                <a:solidFill>
                  <a:srgbClr val="1A1A2E"/>
                </a:solidFill>
              </a:rPr>
              <a:t>  •  6. A welcome SMS is sent to confirm successful login</a:t>
            </a:r>
          </a:p>
          <a:p>
            <a:pPr algn="l">
              <a:spcAft>
                <a:spcPts val="300"/>
              </a:spcAft>
            </a:pPr>
            <a:r>
              <a:rPr sz="1250">
                <a:solidFill>
                  <a:srgbClr val="1A1A2E"/>
                </a:solidFill>
              </a:rPr>
              <a:t>  •  7. User session is saved in SharedPreferences for auto-login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89204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8B4C"/>
                </a:solidFill>
              </a:rPr>
              <a:t>Security Highlights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257800"/>
            <a:ext cx="6858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>
                <a:solidFill>
                  <a:srgbClr val="1E8B4C"/>
                </a:solidFill>
              </a:rPr>
              <a:t>  •  OTP is validated on-device (no server needed)</a:t>
            </a:r>
          </a:p>
          <a:p>
            <a:pPr algn="l">
              <a:spcAft>
                <a:spcPts val="300"/>
              </a:spcAft>
            </a:pPr>
            <a:r>
              <a:rPr sz="1200">
                <a:solidFill>
                  <a:srgbClr val="1E8B4C"/>
                </a:solidFill>
              </a:rPr>
              <a:t>  •  Session persists until user clears app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12344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A2E5A"/>
                </a:solidFill>
              </a:rPr>
              <a:t>Screenshots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836408" y="1664208"/>
            <a:ext cx="1828800" cy="438912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0" y="1600200"/>
            <a:ext cx="1828800" cy="4389120"/>
          </a:xfrm>
          <a:prstGeom prst="rect">
            <a:avLst/>
          </a:prstGeom>
          <a:solidFill>
            <a:srgbClr val="D9E9F8"/>
          </a:solidFill>
          <a:ln w="19050">
            <a:solidFill>
              <a:srgbClr val="90B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0" y="347472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1A1A2E"/>
                </a:solidFill>
              </a:rPr>
              <a:t>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39319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5588AA"/>
                </a:solidFill>
              </a:rPr>
              <a:t>Login Screen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030968" y="1664208"/>
            <a:ext cx="1828800" cy="438912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966960" y="1600200"/>
            <a:ext cx="1828800" cy="4389120"/>
          </a:xfrm>
          <a:prstGeom prst="rect">
            <a:avLst/>
          </a:prstGeom>
          <a:solidFill>
            <a:srgbClr val="D9E9F8"/>
          </a:solidFill>
          <a:ln w="19050">
            <a:solidFill>
              <a:srgbClr val="90B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966960" y="347472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1A1A2E"/>
                </a:solidFill>
              </a:rPr>
              <a:t>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66960" y="39319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5588AA"/>
                </a:solidFill>
              </a:rPr>
              <a:t>OTP Screen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A2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</a:rPr>
              <a:t>Feature 2 – Home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6751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CCFF"/>
                </a:solidFill>
              </a:rPr>
              <a:t>Central hub for account overview and quick actions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A2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65392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CCFF"/>
                </a:solidFill>
              </a:rPr>
              <a:t>SafeBank – Mobile Banking Application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565392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ACCFF"/>
                </a:solidFill>
              </a:rPr>
              <a:t>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28016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A2E5A"/>
                </a:solidFill>
              </a:rPr>
              <a:t>Key Components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737360"/>
            <a:ext cx="7040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50">
                <a:solidFill>
                  <a:srgbClr val="1A1A2E"/>
                </a:solidFill>
              </a:rPr>
              <a:t>  •  Personalised greeting with the user's name</a:t>
            </a:r>
          </a:p>
          <a:p>
            <a:pPr algn="l">
              <a:spcAft>
                <a:spcPts val="300"/>
              </a:spcAft>
            </a:pPr>
            <a:r>
              <a:rPr sz="1250">
                <a:solidFill>
                  <a:srgbClr val="1A1A2E"/>
                </a:solidFill>
              </a:rPr>
              <a:t>  •  Live Account Balance displayed in INR format</a:t>
            </a:r>
          </a:p>
          <a:p>
            <a:pPr algn="l">
              <a:spcAft>
                <a:spcPts val="300"/>
              </a:spcAft>
            </a:pPr>
            <a:r>
              <a:rPr sz="1250">
                <a:solidFill>
                  <a:srgbClr val="1A1A2E"/>
                </a:solidFill>
              </a:rPr>
              <a:t>  •  Account Number displayed below user info</a:t>
            </a:r>
          </a:p>
          <a:p>
            <a:pPr algn="l">
              <a:spcAft>
                <a:spcPts val="300"/>
              </a:spcAft>
            </a:pPr>
            <a:r>
              <a:rPr sz="1250">
                <a:solidFill>
                  <a:srgbClr val="1A1A2E"/>
                </a:solidFill>
              </a:rPr>
              <a:t>  •  Recent Transactions list (latest 3 entries)</a:t>
            </a:r>
          </a:p>
          <a:p>
            <a:pPr algn="l">
              <a:spcAft>
                <a:spcPts val="300"/>
              </a:spcAft>
            </a:pPr>
            <a:r>
              <a:rPr sz="1250">
                <a:solidFill>
                  <a:srgbClr val="1A1A2E"/>
                </a:solidFill>
              </a:rPr>
              <a:t>  •  Quick Action buttons: Loans, Fixed Deposits, Bills</a:t>
            </a:r>
          </a:p>
          <a:p>
            <a:pPr algn="l">
              <a:spcAft>
                <a:spcPts val="300"/>
              </a:spcAft>
            </a:pPr>
            <a:r>
              <a:rPr sz="1250">
                <a:solidFill>
                  <a:srgbClr val="1A1A2E"/>
                </a:solidFill>
              </a:rPr>
              <a:t>  •  Bottom Navigation Bar: Home | Cards | Account</a:t>
            </a:r>
          </a:p>
          <a:p>
            <a:pPr algn="l">
              <a:spcAft>
                <a:spcPts val="300"/>
              </a:spcAft>
            </a:pPr>
            <a:r>
              <a:rPr sz="1250">
                <a:solidFill>
                  <a:srgbClr val="1A1A2E"/>
                </a:solidFill>
              </a:rPr>
              <a:t>  •  Tap 'View All' to open the full transaction history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349240"/>
            <a:ext cx="7040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57799"/>
                </a:solidFill>
              </a:rPr>
              <a:t>Data shown is refreshed every time the screen is resumed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12344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A2E5A"/>
                </a:solidFill>
              </a:rPr>
              <a:t>Screenshots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36408" y="1664208"/>
            <a:ext cx="4114800" cy="438912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72400" y="1600200"/>
            <a:ext cx="4114800" cy="4389120"/>
          </a:xfrm>
          <a:prstGeom prst="rect">
            <a:avLst/>
          </a:prstGeom>
          <a:solidFill>
            <a:srgbClr val="D9E9F8"/>
          </a:solidFill>
          <a:ln w="19050">
            <a:solidFill>
              <a:srgbClr val="90B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0" y="347472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1A1A2E"/>
                </a:solidFill>
              </a:rPr>
              <a:t>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39319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5588AA"/>
                </a:solidFill>
              </a:rPr>
              <a:t>Home Screen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A2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</a:rPr>
              <a:t>Feature 3 – Loans Module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6751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CCFF"/>
                </a:solidFill>
              </a:rPr>
              <a:t>Apply for loans and calculate EMI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A2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65392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CCFF"/>
                </a:solidFill>
              </a:rPr>
              <a:t>SafeBank – Mobile Banking Application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565392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ACCFF"/>
                </a:solidFill>
              </a:rPr>
              <a:t>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28016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A2E5A"/>
                </a:solidFill>
              </a:rPr>
              <a:t>Loan Types Available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737360"/>
            <a:ext cx="6858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>
                <a:solidFill>
                  <a:srgbClr val="1A1A2E"/>
                </a:solidFill>
              </a:rPr>
              <a:t>  •  Home Loan – Apply for a housing loan</a:t>
            </a:r>
          </a:p>
          <a:p>
            <a:pPr algn="l">
              <a:spcAft>
                <a:spcPts val="300"/>
              </a:spcAft>
            </a:pPr>
            <a:r>
              <a:rPr sz="1300">
                <a:solidFill>
                  <a:srgbClr val="1A1A2E"/>
                </a:solidFill>
              </a:rPr>
              <a:t>  •  Personal Loan – Quick personal finance</a:t>
            </a:r>
          </a:p>
          <a:p>
            <a:pPr algn="l">
              <a:spcAft>
                <a:spcPts val="300"/>
              </a:spcAft>
            </a:pPr>
            <a:r>
              <a:rPr sz="1300">
                <a:solidFill>
                  <a:srgbClr val="1A1A2E"/>
                </a:solidFill>
              </a:rPr>
              <a:t>  •  Car Loan – Auto financing made easy</a:t>
            </a:r>
          </a:p>
          <a:p>
            <a:pPr algn="l">
              <a:spcAft>
                <a:spcPts val="300"/>
              </a:spcAft>
            </a:pPr>
            <a:r>
              <a:rPr sz="1300">
                <a:solidFill>
                  <a:srgbClr val="1A1A2E"/>
                </a:solidFill>
              </a:rPr>
              <a:t>  •  Loan Calculator – Compute EMI before applying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47472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A2E5A"/>
                </a:solidFill>
              </a:rPr>
              <a:t>Loan Application Flow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886200"/>
            <a:ext cx="6858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50">
                <a:solidFill>
                  <a:srgbClr val="1A1A2E"/>
                </a:solidFill>
              </a:rPr>
              <a:t>  •  1. Select loan type from the Loans screen</a:t>
            </a:r>
          </a:p>
          <a:p>
            <a:pPr algn="l">
              <a:spcAft>
                <a:spcPts val="300"/>
              </a:spcAft>
            </a:pPr>
            <a:r>
              <a:rPr sz="1250">
                <a:solidFill>
                  <a:srgbClr val="1A1A2E"/>
                </a:solidFill>
              </a:rPr>
              <a:t>  •  2. Fill in loan amount, tenure, and personal details</a:t>
            </a:r>
          </a:p>
          <a:p>
            <a:pPr algn="l">
              <a:spcAft>
                <a:spcPts val="300"/>
              </a:spcAft>
            </a:pPr>
            <a:r>
              <a:rPr sz="1250">
                <a:solidFill>
                  <a:srgbClr val="1A1A2E"/>
                </a:solidFill>
              </a:rPr>
              <a:t>  •  3. On approval, the loan amount is credited to the account balance</a:t>
            </a:r>
          </a:p>
          <a:p>
            <a:pPr algn="l">
              <a:spcAft>
                <a:spcPts val="300"/>
              </a:spcAft>
            </a:pPr>
            <a:r>
              <a:rPr sz="1250">
                <a:solidFill>
                  <a:srgbClr val="1A1A2E"/>
                </a:solidFill>
              </a:rPr>
              <a:t>  •  4. A CREDIT transaction entry is recorded automatically</a:t>
            </a:r>
          </a:p>
          <a:p>
            <a:pPr algn="l">
              <a:spcAft>
                <a:spcPts val="300"/>
              </a:spcAft>
            </a:pPr>
            <a:r>
              <a:rPr sz="1250">
                <a:solidFill>
                  <a:srgbClr val="1A1A2E"/>
                </a:solidFill>
              </a:rPr>
              <a:t>  •  5. Users cannot apply for the same loan type twice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12344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A2E5A"/>
                </a:solidFill>
              </a:rPr>
              <a:t>Screenshots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836408" y="1664208"/>
            <a:ext cx="1828800" cy="438912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0" y="1600200"/>
            <a:ext cx="1828800" cy="4389120"/>
          </a:xfrm>
          <a:prstGeom prst="rect">
            <a:avLst/>
          </a:prstGeom>
          <a:solidFill>
            <a:srgbClr val="D9E9F8"/>
          </a:solidFill>
          <a:ln w="19050">
            <a:solidFill>
              <a:srgbClr val="90B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0" y="347472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1A1A2E"/>
                </a:solidFill>
              </a:rPr>
              <a:t>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39319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5588AA"/>
                </a:solidFill>
              </a:rPr>
              <a:t>Loans Menu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030968" y="1664208"/>
            <a:ext cx="1828800" cy="438912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966960" y="1600200"/>
            <a:ext cx="1828800" cy="4389120"/>
          </a:xfrm>
          <a:prstGeom prst="rect">
            <a:avLst/>
          </a:prstGeom>
          <a:solidFill>
            <a:srgbClr val="D9E9F8"/>
          </a:solidFill>
          <a:ln w="19050">
            <a:solidFill>
              <a:srgbClr val="90B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966960" y="347472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1A1A2E"/>
                </a:solidFill>
              </a:rPr>
              <a:t>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66960" y="39319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5588AA"/>
                </a:solidFill>
              </a:rPr>
              <a:t>Apply / Calculator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A2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</a:rPr>
              <a:t>Feature 4 – Fixed Deposits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6751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CCFF"/>
                </a:solidFill>
              </a:rPr>
              <a:t>Create and manage term deposits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A2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65392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CCFF"/>
                </a:solidFill>
              </a:rPr>
              <a:t>SafeBank – Mobile Banking Application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565392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ACCFF"/>
                </a:solidFill>
              </a:rPr>
              <a:t>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28016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A2E5A"/>
                </a:solidFill>
              </a:rPr>
              <a:t>How Fixed Deposits Work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737360"/>
            <a:ext cx="6858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50">
                <a:solidFill>
                  <a:srgbClr val="1A1A2E"/>
                </a:solidFill>
              </a:rPr>
              <a:t>  •  User selects a deposit amount and tenure (e.g. 6 months, 1 year)</a:t>
            </a:r>
          </a:p>
          <a:p>
            <a:pPr algn="l">
              <a:spcAft>
                <a:spcPts val="300"/>
              </a:spcAft>
            </a:pPr>
            <a:r>
              <a:rPr sz="1250">
                <a:solidFill>
                  <a:srgbClr val="1A1A2E"/>
                </a:solidFill>
              </a:rPr>
              <a:t>  •  Interest rate is auto-calculated based on selected tenure</a:t>
            </a:r>
          </a:p>
          <a:p>
            <a:pPr algn="l">
              <a:spcAft>
                <a:spcPts val="300"/>
              </a:spcAft>
            </a:pPr>
            <a:r>
              <a:rPr sz="1250">
                <a:solidFill>
                  <a:srgbClr val="1A1A2E"/>
                </a:solidFill>
              </a:rPr>
              <a:t>  •  FD is created and stored with a unique FD number</a:t>
            </a:r>
          </a:p>
          <a:p>
            <a:pPr algn="l">
              <a:spcAft>
                <a:spcPts val="300"/>
              </a:spcAft>
            </a:pPr>
            <a:r>
              <a:rPr sz="1250">
                <a:solidFill>
                  <a:srgbClr val="1A1A2E"/>
                </a:solidFill>
              </a:rPr>
              <a:t>  •  Opening date and maturity date are automatically computed</a:t>
            </a:r>
          </a:p>
          <a:p>
            <a:pPr algn="l">
              <a:spcAft>
                <a:spcPts val="300"/>
              </a:spcAft>
            </a:pPr>
            <a:r>
              <a:rPr sz="1250">
                <a:solidFill>
                  <a:srgbClr val="1A1A2E"/>
                </a:solidFill>
              </a:rPr>
              <a:t>  •  All active FDs are listed in a scrollable view</a:t>
            </a:r>
          </a:p>
          <a:p>
            <a:pPr algn="l">
              <a:spcAft>
                <a:spcPts val="300"/>
              </a:spcAft>
            </a:pPr>
            <a:r>
              <a:rPr sz="1250">
                <a:solidFill>
                  <a:srgbClr val="1A1A2E"/>
                </a:solidFill>
              </a:rPr>
              <a:t>  •  User can close / redeem an FD before maturity</a:t>
            </a:r>
          </a:p>
          <a:p>
            <a:pPr algn="l">
              <a:spcAft>
                <a:spcPts val="300"/>
              </a:spcAft>
            </a:pPr>
            <a:r>
              <a:rPr sz="1250">
                <a:solidFill>
                  <a:srgbClr val="1A1A2E"/>
                </a:solidFill>
              </a:rPr>
              <a:t>  •  On closure, amount + interest is credited back to balance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34924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557799"/>
                </a:solidFill>
              </a:rPr>
              <a:t>Database fields: fd_no, amount, opening_date, maturity_date, tenure, interest_rate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12344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A2E5A"/>
                </a:solidFill>
              </a:rPr>
              <a:t>Screenshots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36408" y="1664208"/>
            <a:ext cx="1828800" cy="438912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72400" y="1600200"/>
            <a:ext cx="1828800" cy="4389120"/>
          </a:xfrm>
          <a:prstGeom prst="rect">
            <a:avLst/>
          </a:prstGeom>
          <a:solidFill>
            <a:srgbClr val="D9E9F8"/>
          </a:solidFill>
          <a:ln w="19050">
            <a:solidFill>
              <a:srgbClr val="90B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0" y="347472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1A1A2E"/>
                </a:solidFill>
              </a:rPr>
              <a:t>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39319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5588AA"/>
                </a:solidFill>
              </a:rPr>
              <a:t>FD List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030968" y="1664208"/>
            <a:ext cx="1828800" cy="438912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966960" y="1600200"/>
            <a:ext cx="1828800" cy="4389120"/>
          </a:xfrm>
          <a:prstGeom prst="rect">
            <a:avLst/>
          </a:prstGeom>
          <a:solidFill>
            <a:srgbClr val="D9E9F8"/>
          </a:solidFill>
          <a:ln w="19050">
            <a:solidFill>
              <a:srgbClr val="90B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966960" y="347472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1A1A2E"/>
                </a:solidFill>
              </a:rPr>
              <a:t>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66960" y="39319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5588AA"/>
                </a:solidFill>
              </a:rPr>
              <a:t>Create FD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A2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</a:rPr>
              <a:t>Feature 5 – Bill Payments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6751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CCFF"/>
                </a:solidFill>
              </a:rPr>
              <a:t>Pay utility bills directly from your account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A2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65392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CCFF"/>
                </a:solidFill>
              </a:rPr>
              <a:t>SafeBank – Mobile Banking Application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565392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ACCFF"/>
                </a:solidFill>
              </a:rPr>
              <a:t>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28016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A2E5A"/>
                </a:solidFill>
              </a:rPr>
              <a:t>Supported Bills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737360"/>
            <a:ext cx="6858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>
                <a:solidFill>
                  <a:srgbClr val="1A1A2E"/>
                </a:solidFill>
              </a:rPr>
              <a:t>  •  Electricity Bill  –  Rs. 1,250</a:t>
            </a:r>
          </a:p>
          <a:p>
            <a:pPr algn="l">
              <a:spcAft>
                <a:spcPts val="300"/>
              </a:spcAft>
            </a:pPr>
            <a:r>
              <a:rPr sz="1400">
                <a:solidFill>
                  <a:srgbClr val="1A1A2E"/>
                </a:solidFill>
              </a:rPr>
              <a:t>  •  Cable Bill        –  Rs. 450</a:t>
            </a:r>
          </a:p>
          <a:p>
            <a:pPr algn="l">
              <a:spcAft>
                <a:spcPts val="300"/>
              </a:spcAft>
            </a:pPr>
            <a:r>
              <a:rPr sz="1400">
                <a:solidFill>
                  <a:srgbClr val="1A1A2E"/>
                </a:solidFill>
              </a:rPr>
              <a:t>  •  Mobile Recharge   –  Rs. 599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20040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A2E5A"/>
                </a:solidFill>
              </a:rPr>
              <a:t>Payment Flow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611880"/>
            <a:ext cx="6858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50">
                <a:solidFill>
                  <a:srgbClr val="1A1A2E"/>
                </a:solidFill>
              </a:rPr>
              <a:t>  •  1. User selects a bill category to pay</a:t>
            </a:r>
          </a:p>
          <a:p>
            <a:pPr algn="l">
              <a:spcAft>
                <a:spcPts val="300"/>
              </a:spcAft>
            </a:pPr>
            <a:r>
              <a:rPr sz="1250">
                <a:solidFill>
                  <a:srgbClr val="1A1A2E"/>
                </a:solidFill>
              </a:rPr>
              <a:t>  •  2. A confirmation dialog shows the bill amount</a:t>
            </a:r>
          </a:p>
          <a:p>
            <a:pPr algn="l">
              <a:spcAft>
                <a:spcPts val="300"/>
              </a:spcAft>
            </a:pPr>
            <a:r>
              <a:rPr sz="1250">
                <a:solidFill>
                  <a:srgbClr val="1A1A2E"/>
                </a:solidFill>
              </a:rPr>
              <a:t>  •  3. On confirming, balance is deducted immediately</a:t>
            </a:r>
          </a:p>
          <a:p>
            <a:pPr algn="l">
              <a:spcAft>
                <a:spcPts val="300"/>
              </a:spcAft>
            </a:pPr>
            <a:r>
              <a:rPr sz="1250">
                <a:solidFill>
                  <a:srgbClr val="1A1A2E"/>
                </a:solidFill>
              </a:rPr>
              <a:t>  •  4. A DEBIT transaction is recorded with date &amp; time</a:t>
            </a:r>
          </a:p>
          <a:p>
            <a:pPr algn="l">
              <a:spcAft>
                <a:spcPts val="300"/>
              </a:spcAft>
            </a:pPr>
            <a:r>
              <a:rPr sz="1250">
                <a:solidFill>
                  <a:srgbClr val="1A1A2E"/>
                </a:solidFill>
              </a:rPr>
              <a:t>  •  5. An SMS confirmation is sent to the user's phone</a:t>
            </a:r>
          </a:p>
          <a:p>
            <a:pPr algn="l">
              <a:spcAft>
                <a:spcPts val="300"/>
              </a:spcAft>
            </a:pPr>
            <a:r>
              <a:rPr sz="1250">
                <a:solidFill>
                  <a:srgbClr val="1A1A2E"/>
                </a:solidFill>
              </a:rPr>
              <a:t>  •  6. If balance is insufficient, payment is blocked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12344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A2E5A"/>
                </a:solidFill>
              </a:rPr>
              <a:t>Screenshots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836408" y="1664208"/>
            <a:ext cx="4114800" cy="438912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0" y="1600200"/>
            <a:ext cx="4114800" cy="4389120"/>
          </a:xfrm>
          <a:prstGeom prst="rect">
            <a:avLst/>
          </a:prstGeom>
          <a:solidFill>
            <a:srgbClr val="D9E9F8"/>
          </a:solidFill>
          <a:ln w="19050">
            <a:solidFill>
              <a:srgbClr val="90B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0" y="347472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1A1A2E"/>
                </a:solidFill>
              </a:rPr>
              <a:t>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39319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5588AA"/>
                </a:solidFill>
              </a:rPr>
              <a:t>Bills Screen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A2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</a:rPr>
              <a:t>Feature 6 – Cards &amp; Account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6751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CCFF"/>
                </a:solidFill>
              </a:rPr>
              <a:t>View debit card details and manage your profile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A2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65392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CCFF"/>
                </a:solidFill>
              </a:rPr>
              <a:t>SafeBank – Mobile Banking Application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565392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ACCFF"/>
                </a:solidFill>
              </a:rPr>
              <a:t>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2801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A2E5A"/>
                </a:solidFill>
              </a:rPr>
              <a:t>Cards Screen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69164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50">
                <a:solidFill>
                  <a:srgbClr val="1A1A2E"/>
                </a:solidFill>
              </a:rPr>
              <a:t>  •  Displays a virtual debit card UI</a:t>
            </a:r>
          </a:p>
          <a:p>
            <a:pPr algn="l">
              <a:spcAft>
                <a:spcPts val="300"/>
              </a:spcAft>
            </a:pPr>
            <a:r>
              <a:rPr sz="1250">
                <a:solidFill>
                  <a:srgbClr val="1A1A2E"/>
                </a:solidFill>
              </a:rPr>
              <a:t>  •  Shows card holder name and account number</a:t>
            </a:r>
          </a:p>
          <a:p>
            <a:pPr algn="l">
              <a:spcAft>
                <a:spcPts val="300"/>
              </a:spcAft>
            </a:pPr>
            <a:r>
              <a:rPr sz="1250">
                <a:solidFill>
                  <a:srgbClr val="1A1A2E"/>
                </a:solidFill>
              </a:rPr>
              <a:t>  •  Quick link to Transaction History</a:t>
            </a:r>
          </a:p>
          <a:p>
            <a:pPr algn="l">
              <a:spcAft>
                <a:spcPts val="300"/>
              </a:spcAft>
            </a:pPr>
            <a:r>
              <a:rPr sz="1250">
                <a:solidFill>
                  <a:srgbClr val="1A1A2E"/>
                </a:solidFill>
              </a:rPr>
              <a:t>  •  Card lock / unlock toggle to freeze the card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5661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A2E5A"/>
                </a:solidFill>
              </a:rPr>
              <a:t>Account Screen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977639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50">
                <a:solidFill>
                  <a:srgbClr val="1A1A2E"/>
                </a:solidFill>
              </a:rPr>
              <a:t>  •  Displays full account details (name, phone, account no.)</a:t>
            </a:r>
          </a:p>
          <a:p>
            <a:pPr algn="l">
              <a:spcAft>
                <a:spcPts val="300"/>
              </a:spcAft>
            </a:pPr>
            <a:r>
              <a:rPr sz="1250">
                <a:solidFill>
                  <a:srgbClr val="1A1A2E"/>
                </a:solidFill>
              </a:rPr>
              <a:t>  •  Shows current balance summary</a:t>
            </a:r>
          </a:p>
          <a:p>
            <a:pPr algn="l">
              <a:spcAft>
                <a:spcPts val="300"/>
              </a:spcAft>
            </a:pPr>
            <a:r>
              <a:rPr sz="1250">
                <a:solidFill>
                  <a:srgbClr val="1A1A2E"/>
                </a:solidFill>
              </a:rPr>
              <a:t>  •  Edit profile name option</a:t>
            </a:r>
          </a:p>
          <a:p>
            <a:pPr algn="l">
              <a:spcAft>
                <a:spcPts val="300"/>
              </a:spcAft>
            </a:pPr>
            <a:r>
              <a:rPr sz="1250">
                <a:solidFill>
                  <a:srgbClr val="1A1A2E"/>
                </a:solidFill>
              </a:rPr>
              <a:t>  •  Logout functionality (clears session)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2344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A2E5A"/>
                </a:solidFill>
              </a:rPr>
              <a:t>Screenshots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64808" y="1664208"/>
            <a:ext cx="2468880" cy="438912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0" y="1600200"/>
            <a:ext cx="2468880" cy="4389120"/>
          </a:xfrm>
          <a:prstGeom prst="rect">
            <a:avLst/>
          </a:prstGeom>
          <a:solidFill>
            <a:srgbClr val="D9E9F8"/>
          </a:solidFill>
          <a:ln w="19050">
            <a:solidFill>
              <a:srgbClr val="90B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347472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1A1A2E"/>
                </a:solidFill>
              </a:rPr>
              <a:t>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393192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5588AA"/>
                </a:solidFill>
              </a:rPr>
              <a:t>Cards Screen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299448" y="1664208"/>
            <a:ext cx="2468880" cy="438912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235440" y="1600200"/>
            <a:ext cx="2468880" cy="4389120"/>
          </a:xfrm>
          <a:prstGeom prst="rect">
            <a:avLst/>
          </a:prstGeom>
          <a:solidFill>
            <a:srgbClr val="D9E9F8"/>
          </a:solidFill>
          <a:ln w="19050">
            <a:solidFill>
              <a:srgbClr val="90B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35440" y="347472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1A1A2E"/>
                </a:solidFill>
              </a:rPr>
              <a:t>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440" y="393192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5588AA"/>
                </a:solidFill>
              </a:rPr>
              <a:t>Account Screen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A2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</a:rPr>
              <a:t>Feature 7 – Transaction History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6751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CCFF"/>
                </a:solidFill>
              </a:rPr>
              <a:t>Complete audit trail of all account activity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A2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65392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CCFF"/>
                </a:solidFill>
              </a:rPr>
              <a:t>SafeBank – Mobile Banking Application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565392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ACCFF"/>
                </a:solidFill>
              </a:rPr>
              <a:t>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28016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A2E5A"/>
                </a:solidFill>
              </a:rPr>
              <a:t>What is displayed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737360"/>
            <a:ext cx="6858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50">
                <a:solidFill>
                  <a:srgbClr val="1A1A2E"/>
                </a:solidFill>
              </a:rPr>
              <a:t>  •  Full list of all past transactions, latest first</a:t>
            </a:r>
          </a:p>
          <a:p>
            <a:pPr algn="l">
              <a:spcAft>
                <a:spcPts val="300"/>
              </a:spcAft>
            </a:pPr>
            <a:r>
              <a:rPr sz="1250">
                <a:solidFill>
                  <a:srgbClr val="1A1A2E"/>
                </a:solidFill>
              </a:rPr>
              <a:t>  •  Each entry shows: Title, Date &amp; Time, Amount</a:t>
            </a:r>
          </a:p>
          <a:p>
            <a:pPr algn="l">
              <a:spcAft>
                <a:spcPts val="300"/>
              </a:spcAft>
            </a:pPr>
            <a:r>
              <a:rPr sz="1250">
                <a:solidFill>
                  <a:srgbClr val="1A1A2E"/>
                </a:solidFill>
              </a:rPr>
              <a:t>  •  DEBIT entries shown with a red upward arrow icon</a:t>
            </a:r>
          </a:p>
          <a:p>
            <a:pPr algn="l">
              <a:spcAft>
                <a:spcPts val="300"/>
              </a:spcAft>
            </a:pPr>
            <a:r>
              <a:rPr sz="1250">
                <a:solidFill>
                  <a:srgbClr val="1A1A2E"/>
                </a:solidFill>
              </a:rPr>
              <a:t>  •  CREDIT entries shown with a green downward arrow icon</a:t>
            </a:r>
          </a:p>
          <a:p>
            <a:pPr algn="l">
              <a:spcAft>
                <a:spcPts val="300"/>
              </a:spcAft>
            </a:pPr>
            <a:r>
              <a:rPr sz="1250">
                <a:solidFill>
                  <a:srgbClr val="1A1A2E"/>
                </a:solidFill>
              </a:rPr>
              <a:t>  •  Home screen shows only the 3 most recent transactions</a:t>
            </a:r>
          </a:p>
          <a:p>
            <a:pPr algn="l">
              <a:spcAft>
                <a:spcPts val="300"/>
              </a:spcAft>
            </a:pPr>
            <a:r>
              <a:rPr sz="1250">
                <a:solidFill>
                  <a:srgbClr val="1A1A2E"/>
                </a:solidFill>
              </a:rPr>
              <a:t>  •  Navigate via Cards or tap 'View All' for the full list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93192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A2E5A"/>
                </a:solidFill>
              </a:rPr>
              <a:t>Transaction sources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343400"/>
            <a:ext cx="6858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50">
                <a:solidFill>
                  <a:srgbClr val="1A1A2E"/>
                </a:solidFill>
              </a:rPr>
              <a:t>  •  Bill payments (Electricity, Cable, Mobile) – DEBIT</a:t>
            </a:r>
          </a:p>
          <a:p>
            <a:pPr algn="l">
              <a:spcAft>
                <a:spcPts val="300"/>
              </a:spcAft>
            </a:pPr>
            <a:r>
              <a:rPr sz="1250">
                <a:solidFill>
                  <a:srgbClr val="1A1A2E"/>
                </a:solidFill>
              </a:rPr>
              <a:t>  •  Loan disbursements (Home, Personal, Car) – CREDIT</a:t>
            </a:r>
          </a:p>
          <a:p>
            <a:pPr algn="l">
              <a:spcAft>
                <a:spcPts val="300"/>
              </a:spcAft>
            </a:pPr>
            <a:r>
              <a:rPr sz="1250">
                <a:solidFill>
                  <a:srgbClr val="1A1A2E"/>
                </a:solidFill>
              </a:rPr>
              <a:t>  •  Fixed Deposit creation – DEBIT</a:t>
            </a:r>
          </a:p>
          <a:p>
            <a:pPr algn="l">
              <a:spcAft>
                <a:spcPts val="300"/>
              </a:spcAft>
            </a:pPr>
            <a:r>
              <a:rPr sz="1250">
                <a:solidFill>
                  <a:srgbClr val="1A1A2E"/>
                </a:solidFill>
              </a:rPr>
              <a:t>  •  Fixed Deposit closure / redemption – CREDIT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12344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A2E5A"/>
                </a:solidFill>
              </a:rPr>
              <a:t>Screenshots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836408" y="1664208"/>
            <a:ext cx="4114800" cy="438912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0" y="1600200"/>
            <a:ext cx="4114800" cy="4389120"/>
          </a:xfrm>
          <a:prstGeom prst="rect">
            <a:avLst/>
          </a:prstGeom>
          <a:solidFill>
            <a:srgbClr val="D9E9F8"/>
          </a:solidFill>
          <a:ln w="19050">
            <a:solidFill>
              <a:srgbClr val="90B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0" y="347472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1A1A2E"/>
                </a:solidFill>
              </a:rPr>
              <a:t>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39319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5588AA"/>
                </a:solidFill>
              </a:rPr>
              <a:t>Transaction History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A2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</a:rPr>
              <a:t>Database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6751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CCFF"/>
                </a:solidFill>
              </a:rPr>
              <a:t>SQLite schema used by SafeBank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A2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65392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CCFF"/>
                </a:solidFill>
              </a:rPr>
              <a:t>SafeBank – Mobile Banking Application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565392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ACCFF"/>
                </a:solidFill>
              </a:rPr>
              <a:t>Confidential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325880"/>
            <a:ext cx="11274552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90B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399032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A2E5A"/>
                </a:solidFill>
              </a:rPr>
              <a:t>account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801368"/>
            <a:ext cx="10789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7ACC"/>
                </a:solidFill>
              </a:rPr>
              <a:t>phone (PK)  |  name  |  balance  |  card_locked  |  account_no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221991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45566"/>
                </a:solidFill>
              </a:rPr>
              <a:t>One row per user. Default starting balance: Rs. 50,000. card_locked is a 0/1 boolean.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999232"/>
            <a:ext cx="11274552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90B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3072384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A2E5A"/>
                </a:solidFill>
              </a:rPr>
              <a:t>transactions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474720"/>
            <a:ext cx="10789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7ACC"/>
                </a:solidFill>
              </a:rPr>
              <a:t>id (PK)  |  user_phone (FK)  |  title  |  date  |  amount  |  type (DEBIT / CREDIT)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3895344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45566"/>
                </a:solidFill>
              </a:rPr>
              <a:t>Appended on every financial event. Ordered by id DESC for display (newest first).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672584"/>
            <a:ext cx="11274552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90B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4745736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A2E5A"/>
                </a:solidFill>
              </a:rPr>
              <a:t>fixed_deposits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5148072"/>
            <a:ext cx="10789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7ACC"/>
                </a:solidFill>
              </a:rPr>
              <a:t>id (PK)  |  user_phone (FK)  |  fd_no  |  amount  |  opening_date  |  maturity_date  |  tenure  |  interest_rate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5568696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45566"/>
                </a:solidFill>
              </a:rPr>
              <a:t>Created when user opens an FD. Deleted on closure / redemption.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2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86800" y="-457200"/>
            <a:ext cx="4114800" cy="4114800"/>
          </a:xfrm>
          <a:prstGeom prst="ellipse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14400" y="4572000"/>
            <a:ext cx="3200400" cy="3200400"/>
          </a:xfrm>
          <a:prstGeom prst="ellipse">
            <a:avLst/>
          </a:prstGeom>
          <a:solidFill>
            <a:srgbClr val="0055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3200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Key Highlights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005840"/>
            <a:ext cx="3200400" cy="4572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188720"/>
            <a:ext cx="105156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DEEFF"/>
                </a:solidFill>
              </a:rPr>
              <a:t>✅  OTP-based login with real SMS delivery ensures user identity verification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37360"/>
            <a:ext cx="105156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DEEFF"/>
                </a:solidFill>
              </a:rPr>
              <a:t>✅  Local SQLite DB keeps all data on-device — no server or internet required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286000"/>
            <a:ext cx="105156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DEEFF"/>
                </a:solidFill>
              </a:rPr>
              <a:t>✅  Every financial action auto-creates a transaction record for full traceability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834640"/>
            <a:ext cx="105156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DEEFF"/>
                </a:solidFill>
              </a:rPr>
              <a:t>✅  Modular activity-based architecture — each feature is a standalone screen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383280"/>
            <a:ext cx="105156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DEEFF"/>
                </a:solidFill>
              </a:rPr>
              <a:t>✅  Material Design UI provides a polished, bank-app feel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931920"/>
            <a:ext cx="105156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DEEFF"/>
                </a:solidFill>
              </a:rPr>
              <a:t>✅  SMS alerts for login, bills, and transactions keep users informed in real time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480559"/>
            <a:ext cx="105156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DEEFF"/>
                </a:solidFill>
              </a:rPr>
              <a:t>✅  New users are on-boarded seamlessly — account created automatically on first login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94360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007ACC"/>
                </a:solidFill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